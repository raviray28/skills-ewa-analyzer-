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SAP EWA 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20624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0B7C3"/>
                </a:solidFill>
                <a:latin typeface="Arial"/>
              </a:rPr>
              <a:t>EarlyWatch Alert Report — &lt;dd/mm/yyyy&gt;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28016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9FA8DA"/>
                </a:solidFill>
                <a:latin typeface="Arial"/>
              </a:rPr>
              <a:t>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329184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&lt;Customer&gt;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28016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9FA8DA"/>
                </a:solidFill>
                <a:latin typeface="Arial"/>
              </a:rPr>
              <a:t>LANDSCAPE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329184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&lt;SID - product&gt;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12801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9FA8DA"/>
                </a:solidFill>
                <a:latin typeface="Arial"/>
              </a:rPr>
              <a:t>REPORTING PERIOD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329184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&lt;from - to&gt;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04120" y="128016"/>
            <a:ext cx="1828800" cy="713232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95560" y="164592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OVERALL HEALTH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5560" y="34747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CRITICAL — 0/100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5560" y="62179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&lt;EWA overall rating&gt;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684264"/>
            <a:ext cx="11612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CONFIDENTIAL  |  &lt;Customer&gt;  ·  &lt;SID&gt;  ·  &lt;Month yyyy&gt;  |  Page 1 of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117043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rial"/>
              </a:rPr>
              <a:t>1.  OVERALL SYSTEM HEALTH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1517904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Security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1545336"/>
            <a:ext cx="3063240" cy="20116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554480" y="1545336"/>
            <a:ext cx="18288" cy="20116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151790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62828"/>
                </a:solidFill>
                <a:latin typeface="Arial"/>
              </a:rPr>
              <a:t>0/100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182422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Performance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54480" y="1851660"/>
            <a:ext cx="3063240" cy="20116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554480" y="1851660"/>
            <a:ext cx="18288" cy="20116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182422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62828"/>
                </a:solidFill>
                <a:latin typeface="Arial"/>
              </a:rPr>
              <a:t>0/100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2130552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Capacity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54480" y="2157984"/>
            <a:ext cx="3063240" cy="20116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54480" y="2157984"/>
            <a:ext cx="18288" cy="20116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21305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62828"/>
                </a:solidFill>
                <a:latin typeface="Arial"/>
              </a:rPr>
              <a:t>0/100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2436876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Availability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54480" y="2464308"/>
            <a:ext cx="3063240" cy="20116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54480" y="2464308"/>
            <a:ext cx="18288" cy="20116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09160" y="2436876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62828"/>
                </a:solidFill>
                <a:latin typeface="Arial"/>
              </a:rPr>
              <a:t>0/100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2743200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Operations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54480" y="2770632"/>
            <a:ext cx="3063240" cy="20116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554480" y="2770632"/>
            <a:ext cx="18288" cy="20116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09160" y="274320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62828"/>
                </a:solidFill>
                <a:latin typeface="Arial"/>
              </a:rPr>
              <a:t>0/100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3049524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Maintenance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54480" y="3076956"/>
            <a:ext cx="3063240" cy="20116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554480" y="3076956"/>
            <a:ext cx="18288" cy="20116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09160" y="304952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62828"/>
                </a:solidFill>
                <a:latin typeface="Arial"/>
              </a:rPr>
              <a:t>0/100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338328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1">
                <a:solidFill>
                  <a:srgbClr val="666666"/>
                </a:solidFill>
                <a:latin typeface="Arial"/>
              </a:rPr>
              <a:t>Illustrative Basis-team scoring derived from EWA finding severity — not an official SAP metric.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32120" y="1170432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rial"/>
              </a:rPr>
              <a:t>2.  KEY SNAPSHOT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5532120" y="1481328"/>
          <a:ext cx="6382511" cy="32461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3040"/>
                <a:gridCol w="868680"/>
                <a:gridCol w="4050791"/>
              </a:tblGrid>
              <a:tr h="36068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1A2F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1A2F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Comment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1A2F55"/>
                    </a:solidFill>
                  </a:tcPr>
                </a:tc>
              </a:tr>
              <a:tr h="36068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System Availability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2F55"/>
                          </a:solidFill>
                          <a:latin typeface="Arial"/>
                        </a:rPr>
                        <a:t>Info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&lt;fill in&gt;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User Performance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2F55"/>
                          </a:solidFill>
                          <a:latin typeface="Arial"/>
                        </a:rPr>
                        <a:t>Info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&lt;fill in&gt;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Backup &amp; Recovery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2F55"/>
                          </a:solidFill>
                          <a:latin typeface="Arial"/>
                        </a:rPr>
                        <a:t>Info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&lt;fill in&gt;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Security &amp; Auth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2F55"/>
                          </a:solidFill>
                          <a:latin typeface="Arial"/>
                        </a:rPr>
                        <a:t>Info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&lt;fill in&gt;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Database Capacity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2F55"/>
                          </a:solidFill>
                          <a:latin typeface="Arial"/>
                        </a:rPr>
                        <a:t>Info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&lt;fill in&gt;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Software Currency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2F55"/>
                          </a:solidFill>
                          <a:latin typeface="Arial"/>
                        </a:rPr>
                        <a:t>Info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&lt;fill in&gt;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Warehouse (EWM)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2F55"/>
                          </a:solidFill>
                          <a:latin typeface="Arial"/>
                        </a:rPr>
                        <a:t>Info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&lt;fill in&gt;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Business Process KPIs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2F55"/>
                          </a:solidFill>
                          <a:latin typeface="Arial"/>
                        </a:rPr>
                        <a:t>Info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&lt;fill in&gt;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274320" y="37033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rial"/>
              </a:rPr>
              <a:t>3.  TOP RISKS — Business Impact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4320" y="4023360"/>
            <a:ext cx="777240" cy="512064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4023360"/>
            <a:ext cx="7772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" y="4005072"/>
            <a:ext cx="4251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  <a:latin typeface="Arial"/>
              </a:rPr>
              <a:t>&lt;fill in&gt;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4261104"/>
            <a:ext cx="4251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  <a:latin typeface="Arial"/>
              </a:rPr>
              <a:t>&lt;fill in&gt;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" y="4608576"/>
            <a:ext cx="777240" cy="512064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4608576"/>
            <a:ext cx="7772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3000" y="4590288"/>
            <a:ext cx="4251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  <a:latin typeface="Arial"/>
              </a:rPr>
              <a:t>&lt;fill in&gt;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3000" y="4846320"/>
            <a:ext cx="4251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  <a:latin typeface="Arial"/>
              </a:rPr>
              <a:t>&lt;fill in&gt;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74320" y="5193792"/>
            <a:ext cx="777240" cy="512064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5193792"/>
            <a:ext cx="7772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3000" y="5175504"/>
            <a:ext cx="4251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  <a:latin typeface="Arial"/>
              </a:rPr>
              <a:t>&lt;fill in&gt;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3000" y="5431536"/>
            <a:ext cx="4251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  <a:latin typeface="Arial"/>
              </a:rPr>
              <a:t>&lt;fill in&gt;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74320" y="5779008"/>
            <a:ext cx="777240" cy="512064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4320" y="5779008"/>
            <a:ext cx="7772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43000" y="5760720"/>
            <a:ext cx="4251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  <a:latin typeface="Arial"/>
              </a:rPr>
              <a:t>&lt;fill in&gt;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" y="6016752"/>
            <a:ext cx="4251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  <a:latin typeface="Arial"/>
              </a:rPr>
              <a:t>&lt;fill in&gt;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32120" y="4828032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rial"/>
              </a:rPr>
              <a:t>4.  KEY KPI DASHBOARD — This Period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532120" y="5120640"/>
            <a:ext cx="1545336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32120" y="5120640"/>
            <a:ext cx="54864" cy="548640"/>
          </a:xfrm>
          <a:prstGeom prst="rect">
            <a:avLst/>
          </a:prstGeom>
          <a:solidFill>
            <a:srgbClr val="1A2F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05272" y="5157216"/>
            <a:ext cx="14447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2F55"/>
                </a:solidFill>
                <a:latin typeface="Arial"/>
              </a:rPr>
              <a:t>-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68696" y="5422392"/>
            <a:ext cx="14813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>
                <a:solidFill>
                  <a:srgbClr val="444444"/>
                </a:solidFill>
                <a:latin typeface="Arial"/>
              </a:rPr>
              <a:t>AVAILABILITY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68696" y="5541264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66666"/>
                </a:solidFill>
                <a:latin typeface="Arial"/>
              </a:rPr>
              <a:t>Target: -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18604" y="5120640"/>
            <a:ext cx="1545336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118604" y="5120640"/>
            <a:ext cx="54864" cy="548640"/>
          </a:xfrm>
          <a:prstGeom prst="rect">
            <a:avLst/>
          </a:prstGeom>
          <a:solidFill>
            <a:srgbClr val="1A2F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191756" y="5157216"/>
            <a:ext cx="14447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2F55"/>
                </a:solidFill>
                <a:latin typeface="Arial"/>
              </a:rPr>
              <a:t>-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55180" y="5422392"/>
            <a:ext cx="14813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>
                <a:solidFill>
                  <a:srgbClr val="444444"/>
                </a:solidFill>
                <a:latin typeface="Arial"/>
              </a:rPr>
              <a:t>AVG DIALOG RESPONSE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55180" y="5541264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66666"/>
                </a:solidFill>
                <a:latin typeface="Arial"/>
              </a:rPr>
              <a:t>Target: -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705088" y="5120640"/>
            <a:ext cx="1545336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705088" y="5120640"/>
            <a:ext cx="54864" cy="548640"/>
          </a:xfrm>
          <a:prstGeom prst="rect">
            <a:avLst/>
          </a:prstGeom>
          <a:solidFill>
            <a:srgbClr val="1A2F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778240" y="5157216"/>
            <a:ext cx="14447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2F55"/>
                </a:solidFill>
                <a:latin typeface="Arial"/>
              </a:rPr>
              <a:t>-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41663" y="5422392"/>
            <a:ext cx="14813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>
                <a:solidFill>
                  <a:srgbClr val="444444"/>
                </a:solidFill>
                <a:latin typeface="Arial"/>
              </a:rPr>
              <a:t>ABAP DUMPS (7D)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741663" y="5541264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66666"/>
                </a:solidFill>
                <a:latin typeface="Arial"/>
              </a:rPr>
              <a:t>Target: -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291572" y="5120640"/>
            <a:ext cx="1545336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291572" y="5120640"/>
            <a:ext cx="54864" cy="548640"/>
          </a:xfrm>
          <a:prstGeom prst="rect">
            <a:avLst/>
          </a:prstGeom>
          <a:solidFill>
            <a:srgbClr val="1A2F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364724" y="5157216"/>
            <a:ext cx="14447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2F55"/>
                </a:solidFill>
                <a:latin typeface="Arial"/>
              </a:rPr>
              <a:t>-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328147" y="5422392"/>
            <a:ext cx="14813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>
                <a:solidFill>
                  <a:srgbClr val="444444"/>
                </a:solidFill>
                <a:latin typeface="Arial"/>
              </a:rPr>
              <a:t>HANA DATA VOL. USAGE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328147" y="5541264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66666"/>
                </a:solidFill>
                <a:latin typeface="Arial"/>
              </a:rPr>
              <a:t>Target: -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532120" y="5715000"/>
            <a:ext cx="1545336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532120" y="5715000"/>
            <a:ext cx="54864" cy="548640"/>
          </a:xfrm>
          <a:prstGeom prst="rect">
            <a:avLst/>
          </a:prstGeom>
          <a:solidFill>
            <a:srgbClr val="1A2F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605272" y="5751576"/>
            <a:ext cx="14447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2F55"/>
                </a:solidFill>
                <a:latin typeface="Arial"/>
              </a:rPr>
              <a:t>-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68696" y="6016752"/>
            <a:ext cx="14813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>
                <a:solidFill>
                  <a:srgbClr val="444444"/>
                </a:solidFill>
                <a:latin typeface="Arial"/>
              </a:rPr>
              <a:t>CPU — DB SERVER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568696" y="6135624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66666"/>
                </a:solidFill>
                <a:latin typeface="Arial"/>
              </a:rPr>
              <a:t>Target: -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118604" y="5715000"/>
            <a:ext cx="1545336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118604" y="5715000"/>
            <a:ext cx="54864" cy="548640"/>
          </a:xfrm>
          <a:prstGeom prst="rect">
            <a:avLst/>
          </a:prstGeom>
          <a:solidFill>
            <a:srgbClr val="1A2F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191756" y="5751576"/>
            <a:ext cx="14447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2F55"/>
                </a:solidFill>
                <a:latin typeface="Arial"/>
              </a:rPr>
              <a:t>-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155180" y="6016752"/>
            <a:ext cx="14813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>
                <a:solidFill>
                  <a:srgbClr val="444444"/>
                </a:solidFill>
                <a:latin typeface="Arial"/>
              </a:rPr>
              <a:t>DB GROWTH (MONTH)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155180" y="6135624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66666"/>
                </a:solidFill>
                <a:latin typeface="Arial"/>
              </a:rPr>
              <a:t>Target: -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705088" y="5715000"/>
            <a:ext cx="1545336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705088" y="5715000"/>
            <a:ext cx="54864" cy="548640"/>
          </a:xfrm>
          <a:prstGeom prst="rect">
            <a:avLst/>
          </a:prstGeom>
          <a:solidFill>
            <a:srgbClr val="1A2F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778240" y="5751576"/>
            <a:ext cx="14447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2F55"/>
                </a:solidFill>
                <a:latin typeface="Arial"/>
              </a:rPr>
              <a:t>-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741663" y="6016752"/>
            <a:ext cx="14813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>
                <a:solidFill>
                  <a:srgbClr val="444444"/>
                </a:solidFill>
                <a:latin typeface="Arial"/>
              </a:rPr>
              <a:t>ACTIVE USERS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741663" y="6135624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66666"/>
                </a:solidFill>
                <a:latin typeface="Arial"/>
              </a:rPr>
              <a:t>Target: -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291572" y="5715000"/>
            <a:ext cx="1545336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291572" y="5715000"/>
            <a:ext cx="54864" cy="548640"/>
          </a:xfrm>
          <a:prstGeom prst="rect">
            <a:avLst/>
          </a:prstGeom>
          <a:solidFill>
            <a:srgbClr val="1A2F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364724" y="5751576"/>
            <a:ext cx="14447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2F55"/>
                </a:solidFill>
                <a:latin typeface="Arial"/>
              </a:rPr>
              <a:t>-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328147" y="6016752"/>
            <a:ext cx="14813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>
                <a:solidFill>
                  <a:srgbClr val="444444"/>
                </a:solidFill>
                <a:latin typeface="Arial"/>
              </a:rPr>
              <a:t>OVERDUE DELIVERIES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328147" y="6135624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66666"/>
                </a:solidFill>
                <a:latin typeface="Arial"/>
              </a:rPr>
              <a:t>Target: -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74320" y="6373368"/>
            <a:ext cx="11640312" cy="246888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65760" y="6391656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B71C1C"/>
                </a:solidFill>
                <a:latin typeface="Arial"/>
              </a:rPr>
              <a:t>&lt;fill in&gt;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SAP EWA 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20624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0B7C3"/>
                </a:solidFill>
                <a:latin typeface="Arial"/>
              </a:rPr>
              <a:t>EarlyWatch Alert Report — &lt;dd/mm/yyyy&gt;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28016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9FA8DA"/>
                </a:solidFill>
                <a:latin typeface="Arial"/>
              </a:rPr>
              <a:t>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329184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&lt;Customer&gt;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28016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9FA8DA"/>
                </a:solidFill>
                <a:latin typeface="Arial"/>
              </a:rPr>
              <a:t>LANDSCAPE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329184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&lt;SID - product&gt;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12801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9FA8DA"/>
                </a:solidFill>
                <a:latin typeface="Arial"/>
              </a:rPr>
              <a:t>REPORTING PERIOD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329184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&lt;from - to&gt;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04120" y="128016"/>
            <a:ext cx="1828800" cy="713232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95560" y="164592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OVERALL HEALTH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5560" y="34747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CRITICAL — 0/100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5560" y="62179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&lt;EWA overall rating&gt;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684264"/>
            <a:ext cx="11612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CONFIDENTIAL  |  &lt;Customer&gt;  ·  &lt;SID&gt;  ·  &lt;Month yyyy&gt;  |  Page 2 of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1170432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rial"/>
              </a:rPr>
              <a:t>5.  KPI SNAPSHOT vs. SAP-RECOMMENDED THRESHOLDS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14173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1">
                <a:solidFill>
                  <a:srgbClr val="666666"/>
                </a:solidFill>
                <a:latin typeface="Arial"/>
              </a:rPr>
              <a:t>&lt;fill in&gt;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74320" y="1737360"/>
          <a:ext cx="5394960" cy="32890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1188720"/>
                <a:gridCol w="1097280"/>
                <a:gridCol w="1005840"/>
              </a:tblGrid>
              <a:tr h="299008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KPI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1A2F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This Period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1A2F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Threshold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1A2F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1A2F55"/>
                    </a:solidFill>
                  </a:tcPr>
                </a:tc>
              </a:tr>
              <a:tr h="299008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Availability (%)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&gt;99.9%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2F55"/>
                          </a:solidFill>
                          <a:latin typeface="Arial"/>
                        </a:rPr>
                        <a:t>Info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9008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Avg Dialog Response (ms)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&lt;1,000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2F55"/>
                          </a:solidFill>
                          <a:latin typeface="Arial"/>
                        </a:rPr>
                        <a:t>Info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9008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Peak Dialog Response (ms)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&lt;1,000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2F55"/>
                          </a:solidFill>
                          <a:latin typeface="Arial"/>
                        </a:rPr>
                        <a:t>Info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9008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DB Request Time — Dialog (ms)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&lt;100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2F55"/>
                          </a:solidFill>
                          <a:latin typeface="Arial"/>
                        </a:rPr>
                        <a:t>Info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9008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CPU — DB Server (%)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&lt;80%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2F55"/>
                          </a:solidFill>
                          <a:latin typeface="Arial"/>
                        </a:rPr>
                        <a:t>Info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9008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ABAP Dumps (period)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&lt;50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2F55"/>
                          </a:solidFill>
                          <a:latin typeface="Arial"/>
                        </a:rPr>
                        <a:t>Info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9008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HANA DATA Volume Usage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&lt;80%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2F55"/>
                          </a:solidFill>
                          <a:latin typeface="Arial"/>
                        </a:rPr>
                        <a:t>Info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9008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HANA LOG Volume Usage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&lt;80%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2F55"/>
                          </a:solidFill>
                          <a:latin typeface="Arial"/>
                        </a:rPr>
                        <a:t>Info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9008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DB Size / Growth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&lt;15 GB/mo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2F55"/>
                          </a:solidFill>
                          <a:latin typeface="Arial"/>
                        </a:rPr>
                        <a:t>Info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9008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Active Users (&gt;400 steps/wk)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22222"/>
                          </a:solidFill>
                          <a:latin typeface="Arial"/>
                        </a:rPr>
                        <a:t>Normal load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A2F55"/>
                          </a:solidFill>
                          <a:latin typeface="Arial"/>
                        </a:rPr>
                        <a:t>Info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806440" y="1170432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rial"/>
              </a:rPr>
              <a:t>6.  RECOMMENDED ACTIONS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06440" y="1481328"/>
            <a:ext cx="6108192" cy="2743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97880" y="1545336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1517904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B71C1C"/>
                </a:solidFill>
                <a:latin typeface="Arial"/>
              </a:rPr>
              <a:t>Immediate Decisions Required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1810512"/>
            <a:ext cx="4023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&lt;fill in&gt;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1810512"/>
            <a:ext cx="1874519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1">
                <a:solidFill>
                  <a:srgbClr val="666666"/>
                </a:solidFill>
                <a:latin typeface="Arial"/>
              </a:rPr>
              <a:t>&lt;owner&gt;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2084831"/>
            <a:ext cx="4023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&lt;fill in&gt;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084831"/>
            <a:ext cx="1874519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1">
                <a:solidFill>
                  <a:srgbClr val="666666"/>
                </a:solidFill>
                <a:latin typeface="Arial"/>
              </a:rPr>
              <a:t>&lt;owner&gt;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2359152"/>
            <a:ext cx="4023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&lt;fill in&gt;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2359152"/>
            <a:ext cx="1874519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1">
                <a:solidFill>
                  <a:srgbClr val="666666"/>
                </a:solidFill>
                <a:latin typeface="Arial"/>
              </a:rPr>
              <a:t>&lt;owner&gt;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06440" y="2724912"/>
            <a:ext cx="6108192" cy="2743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897880" y="278892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2761488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E65100"/>
                </a:solidFill>
                <a:latin typeface="Arial"/>
              </a:rPr>
              <a:t>High Priority Actions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7880" y="3054096"/>
            <a:ext cx="4023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&lt;fill in&gt;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3054096"/>
            <a:ext cx="1874519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1">
                <a:solidFill>
                  <a:srgbClr val="666666"/>
                </a:solidFill>
                <a:latin typeface="Arial"/>
              </a:rPr>
              <a:t>&lt;owner&gt;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97880" y="3328415"/>
            <a:ext cx="4023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&lt;fill in&gt;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3328415"/>
            <a:ext cx="1874519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1">
                <a:solidFill>
                  <a:srgbClr val="666666"/>
                </a:solidFill>
                <a:latin typeface="Arial"/>
              </a:rPr>
              <a:t>&lt;owner&gt;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80" y="3602736"/>
            <a:ext cx="4023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&lt;fill in&gt;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0" y="3602736"/>
            <a:ext cx="1874519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1">
                <a:solidFill>
                  <a:srgbClr val="666666"/>
                </a:solidFill>
                <a:latin typeface="Arial"/>
              </a:rPr>
              <a:t>&lt;owner&gt;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06440" y="3968496"/>
            <a:ext cx="6108192" cy="274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897880" y="4032504"/>
            <a:ext cx="146304" cy="146304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4005072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8D6E00"/>
                </a:solidFill>
                <a:latin typeface="Arial"/>
              </a:rPr>
              <a:t>Medium Priority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97880" y="4297680"/>
            <a:ext cx="4023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&lt;fill in&gt;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66960" y="4297680"/>
            <a:ext cx="1874519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1">
                <a:solidFill>
                  <a:srgbClr val="666666"/>
                </a:solidFill>
                <a:latin typeface="Arial"/>
              </a:rPr>
              <a:t>&lt;owner&gt;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97880" y="4572000"/>
            <a:ext cx="4023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&lt;fill in&gt;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66960" y="4572000"/>
            <a:ext cx="1874519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1">
                <a:solidFill>
                  <a:srgbClr val="666666"/>
                </a:solidFill>
                <a:latin typeface="Arial"/>
              </a:rPr>
              <a:t>&lt;owner&gt;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97880" y="4846320"/>
            <a:ext cx="4023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&lt;fill in&gt;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66960" y="4846320"/>
            <a:ext cx="1874519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1">
                <a:solidFill>
                  <a:srgbClr val="666666"/>
                </a:solidFill>
                <a:latin typeface="Arial"/>
              </a:rPr>
              <a:t>&lt;owner&gt;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5349240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rial"/>
              </a:rPr>
              <a:t>7.  CONCLUSION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5577840"/>
            <a:ext cx="11640312" cy="105156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84048" y="5687568"/>
            <a:ext cx="822960" cy="822960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573328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" y="61264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Action Required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71600" y="5632704"/>
            <a:ext cx="10424160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Arial"/>
              </a:rPr>
              <a:t>&lt;fill in&gt;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 EWA dashboard &lt;SID&gt; &lt;from - to&gt;</dc:title>
  <dc:subject/>
  <dc:creator>&lt;Your Name&gt;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